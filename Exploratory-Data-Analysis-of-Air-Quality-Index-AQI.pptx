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3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7" r:id="rId6"/>
    <p:sldId id="272" r:id="rId7"/>
    <p:sldId id="271" r:id="rId8"/>
    <p:sldId id="257" r:id="rId9"/>
    <p:sldId id="268" r:id="rId10"/>
    <p:sldId id="273" r:id="rId11"/>
    <p:sldId id="276" r:id="rId12"/>
    <p:sldId id="277" r:id="rId13"/>
    <p:sldId id="274" r:id="rId14"/>
    <p:sldId id="279" r:id="rId15"/>
    <p:sldId id="282" r:id="rId16"/>
    <p:sldId id="266" r:id="rId17"/>
    <p:sldId id="283" r:id="rId18"/>
    <p:sldId id="284" r:id="rId19"/>
    <p:sldId id="265" r:id="rId20"/>
    <p:sldId id="285" r:id="rId21"/>
  </p:sldIdLst>
  <p:sldSz cx="14630400" cy="8229600"/>
  <p:notesSz cx="8229600" cy="14630400"/>
  <p:embeddedFontLst>
    <p:embeddedFont>
      <p:font typeface="PT Serif" panose="020A0703040505020204" pitchFamily="34" charset="0"/>
      <p:bold r:id="rId25"/>
    </p:embeddedFont>
    <p:embeddedFont>
      <p:font typeface="PT Serif" panose="020A0703040505020204" pitchFamily="34" charset="-122"/>
      <p:bold r:id="rId26"/>
    </p:embeddedFont>
    <p:embeddedFont>
      <p:font typeface="PT Serif" panose="020A0703040505020204" pitchFamily="34" charset="-120"/>
      <p:bold r:id="rId27"/>
    </p:embeddedFont>
    <p:embeddedFont>
      <p:font typeface="DM Sans" pitchFamily="34" charset="0"/>
      <p:bold r:id="rId28"/>
    </p:embeddedFont>
    <p:embeddedFont>
      <p:font typeface="DM Sans" pitchFamily="34" charset="-122"/>
      <p:bold r:id="rId29"/>
    </p:embeddedFont>
    <p:embeddedFont>
      <p:font typeface="DM Sans" pitchFamily="34" charset="-120"/>
      <p:bold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  <p:embeddedFont>
      <p:font typeface="Calibri Light" panose="020F0302020204030204" charset="0"/>
      <p:regular r:id="rId35"/>
      <p: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font" Target="fonts/font12.fntdata"/><Relationship Id="rId35" Type="http://schemas.openxmlformats.org/officeDocument/2006/relationships/font" Target="fonts/font11.fntdata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5200" y="473286"/>
            <a:ext cx="12960000" cy="950400"/>
          </a:xfrm>
        </p:spPr>
        <p:txBody>
          <a:bodyPr/>
          <a:lstStyle>
            <a:lvl1pPr algn="ctr">
              <a:defRPr sz="384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24.sv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2605" y="-635"/>
            <a:ext cx="5217795" cy="82308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065" y="2778125"/>
            <a:ext cx="8913495" cy="1889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Exploratory Data Analysis of Air Quality Index (AQI) Pollutant , Spatial, and Seasonal Factors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830" y="4936490"/>
            <a:ext cx="7260590" cy="20897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188595" y="6474460"/>
            <a:ext cx="5770880" cy="14598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by: Gajala Parween </a:t>
            </a: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Domain:- Environmental Data Analytics</a:t>
            </a: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Organization:- Innomatics Research Labs</a:t>
            </a: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Source:- Public Air Quality Dataset kaggle</a:t>
            </a: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89230" y="6496050"/>
            <a:ext cx="4305935" cy="5308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" y="144145"/>
            <a:ext cx="9326245" cy="14928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490" y="1903095"/>
            <a:ext cx="241935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181725" y="228600"/>
            <a:ext cx="7103745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52855" y="1007110"/>
            <a:ext cx="11983085" cy="21170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To Analyze historical Air Quality data and Identify Pollutant-based ,</a:t>
            </a:r>
            <a:endParaRPr lang="en-US" sz="2800" b="1" dirty="0">
              <a:solidFill>
                <a:schemeClr val="accent2">
                  <a:lumMod val="7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Spatial,and Seasonal factors influencing the AQI</a:t>
            </a:r>
            <a:r>
              <a:rPr lang="en-US" sz="2800" dirty="0">
                <a:solidFill>
                  <a:srgbClr val="FF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.</a:t>
            </a:r>
            <a:endParaRPr lang="en-US" sz="2800" dirty="0">
              <a:solidFill>
                <a:srgbClr val="FF0000"/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79095" y="1083548"/>
            <a:ext cx="13110210" cy="6948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0095" y="3525917"/>
            <a:ext cx="2850356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095" y="4012406"/>
            <a:ext cx="4225290" cy="1042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2555" y="3017758"/>
            <a:ext cx="21717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02555" y="4012406"/>
            <a:ext cx="4225290" cy="1042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45015" y="3525917"/>
            <a:ext cx="2992279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5015" y="4012406"/>
            <a:ext cx="4225290" cy="1042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0095" y="5942886"/>
            <a:ext cx="2850356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0095" y="6429375"/>
            <a:ext cx="6446520" cy="1042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3785" y="5434727"/>
            <a:ext cx="21717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40955" y="5184775"/>
            <a:ext cx="6464935" cy="17595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  <a:sym typeface="+mn-ea"/>
              </a:rPr>
              <a:t>Key Pollutant Parameters:-</a:t>
            </a:r>
            <a:endParaRPr lang="en-US" sz="3600" dirty="0">
              <a:solidFill>
                <a:srgbClr val="020202"/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  <a:sym typeface="+mn-ea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3600" dirty="0"/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GB" b="1" dirty="0"/>
              <a:t> PM2.5, PM10</a:t>
            </a:r>
            <a:endParaRPr lang="en-US" altLang="en-GB" b="1" dirty="0"/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GB" b="1" dirty="0"/>
              <a:t> NO</a:t>
            </a:r>
            <a:r>
              <a:rPr lang="en-US" altLang="en-US" b="1" dirty="0"/>
              <a:t>₂</a:t>
            </a:r>
            <a:r>
              <a:rPr lang="en-US" altLang="en-GB" b="1" dirty="0"/>
              <a:t>, SO</a:t>
            </a:r>
            <a:r>
              <a:rPr lang="en-US" altLang="en-US" b="1" dirty="0"/>
              <a:t>₂</a:t>
            </a:r>
            <a:endParaRPr lang="en-US" altLang="en-US" b="1" dirty="0"/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 </a:t>
            </a:r>
            <a:r>
              <a:rPr lang="en-US" altLang="en-GB" b="1" dirty="0"/>
              <a:t>CO, O</a:t>
            </a:r>
            <a:r>
              <a:rPr lang="en-US" altLang="en-US" b="1" dirty="0"/>
              <a:t>₃</a:t>
            </a:r>
            <a:endParaRPr lang="en-US" altLang="en-US" b="1" dirty="0"/>
          </a:p>
        </p:txBody>
      </p:sp>
      <p:sp>
        <p:nvSpPr>
          <p:cNvPr id="24" name="Text 22"/>
          <p:cNvSpPr/>
          <p:nvPr/>
        </p:nvSpPr>
        <p:spPr>
          <a:xfrm>
            <a:off x="7423785" y="6429375"/>
            <a:ext cx="6446520" cy="6948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32" name="Text Box 31"/>
          <p:cNvSpPr txBox="1"/>
          <p:nvPr/>
        </p:nvSpPr>
        <p:spPr>
          <a:xfrm>
            <a:off x="11179175" y="71501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2400" y="7547610"/>
            <a:ext cx="3048000" cy="571500"/>
          </a:xfrm>
          <a:prstGeom prst="rect">
            <a:avLst/>
          </a:prstGeom>
        </p:spPr>
      </p:pic>
      <p:sp>
        <p:nvSpPr>
          <p:cNvPr id="34" name="Text Box 33"/>
          <p:cNvSpPr txBox="1"/>
          <p:nvPr/>
        </p:nvSpPr>
        <p:spPr>
          <a:xfrm>
            <a:off x="379095" y="5040630"/>
            <a:ext cx="6353175" cy="2083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ts val="25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  <a:sym typeface="+mn-ea"/>
              </a:rPr>
              <a:t>Dataset Description :-</a:t>
            </a:r>
            <a:endParaRPr lang="en-US" sz="3600" dirty="0">
              <a:solidFill>
                <a:srgbClr val="020202"/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  <a:sym typeface="+mn-ea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  <a:sym typeface="+mn-ea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  <a:sym typeface="+mn-ea"/>
              </a:rPr>
              <a:t>Publicly available air quality dataset</a:t>
            </a:r>
            <a:endParaRPr lang="en-US" altLang="en-GB" dirty="0">
              <a:solidFill>
                <a:schemeClr val="tx1">
                  <a:lumMod val="85000"/>
                  <a:lumOff val="1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  <a:sym typeface="+mn-ea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  <a:sym typeface="+mn-ea"/>
              </a:rPr>
              <a:t>Collected from air quality monitoring stations</a:t>
            </a:r>
            <a:endParaRPr lang="en-US" altLang="en-GB" dirty="0">
              <a:solidFill>
                <a:schemeClr val="tx1">
                  <a:lumMod val="85000"/>
                  <a:lumOff val="1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  <a:sym typeface="+mn-ea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  <a:sym typeface="+mn-ea"/>
              </a:rPr>
              <a:t>Contains pollutant concentration measurements across multiple citie</a:t>
            </a:r>
            <a:endParaRPr lang="en-US" altLang="en-GB" dirty="0">
              <a:solidFill>
                <a:schemeClr val="tx1">
                  <a:lumMod val="85000"/>
                  <a:lumOff val="1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  <a:sym typeface="+mn-ea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4000500" y="194310"/>
            <a:ext cx="5674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  <a:sym typeface="+mn-ea"/>
              </a:rPr>
              <a:t>Problem Statements  :-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1353" y="1409938"/>
            <a:ext cx="2156460" cy="269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Data Foundation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6061353" y="1744980"/>
            <a:ext cx="6734770" cy="5389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Our Air Quality Dataset at a Glance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6061353" y="2530316"/>
            <a:ext cx="7994094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analysis leverages a comprehensive historical air quality dataset, meticulously compiled to capture a wide array of environmental parameters and their impact on the Air Quality Index.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61353" y="3405068"/>
            <a:ext cx="2912269" cy="3233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Key Pollutant Parameters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61353" y="3892629"/>
            <a:ext cx="4636056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PM2.5: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Fine Particulate Matter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61353" y="4212907"/>
            <a:ext cx="4636056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PM10: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Coarse Particulate Matter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61353" y="4533186"/>
            <a:ext cx="4636056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NO₂: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Nitrogen Dioxide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61353" y="4853464"/>
            <a:ext cx="4636056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SO₂: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Sulfur Dioxide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61353" y="5173742"/>
            <a:ext cx="4636056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Carbon Monoxide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61353" y="5494020"/>
            <a:ext cx="4636056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O₃: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Ozone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61353" y="5814298"/>
            <a:ext cx="4636056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61353" y="6134576"/>
            <a:ext cx="4636056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105793" y="3405068"/>
            <a:ext cx="2587704" cy="3233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Additional Attributes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105793" y="3892629"/>
            <a:ext cx="2957155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City: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Geographic location of data collection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105793" y="4475798"/>
            <a:ext cx="2957155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Datetime: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Timestamp for each observation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105793" y="5058966"/>
            <a:ext cx="2957155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AQI_Bucket: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Categorical AQI classification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105793" y="5748933"/>
            <a:ext cx="2587704" cy="3233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Target Variable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105793" y="6236494"/>
            <a:ext cx="2957155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SzPct val="100000"/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AQI: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Air Quality Index (numerical value)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7218"/>
            <a:ext cx="298287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Ensuring Data Integrity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60095" y="1040249"/>
            <a:ext cx="10461546" cy="712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Data Cleaning &amp; Preprocessing Workflow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60095" y="2078593"/>
            <a:ext cx="13110210" cy="6948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Rigorous data cleaning and preprocessing steps were undertaken to guarantee the quality, consistency, and reliability of the dataset, preparing it for insightful analysis.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0095" y="3017758"/>
            <a:ext cx="21717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0095" y="3356372"/>
            <a:ext cx="4225290" cy="30480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7" name="Text 5"/>
          <p:cNvSpPr/>
          <p:nvPr/>
        </p:nvSpPr>
        <p:spPr>
          <a:xfrm>
            <a:off x="760095" y="3525917"/>
            <a:ext cx="2850356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Datetime Conversion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095" y="4012406"/>
            <a:ext cx="4225290" cy="1042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Converted the 'Datetime' column to a proper datetime format, enabling robust time-series analysis.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2555" y="3017758"/>
            <a:ext cx="21717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202555" y="3356372"/>
            <a:ext cx="4225290" cy="30480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11" name="Text 9"/>
          <p:cNvSpPr/>
          <p:nvPr/>
        </p:nvSpPr>
        <p:spPr>
          <a:xfrm>
            <a:off x="5202555" y="3525917"/>
            <a:ext cx="2850356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02555" y="4012406"/>
            <a:ext cx="4225290" cy="1042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Extracted 'Year', 'Month', and 'Day' from the datetime object for temporal and seasonal analysis.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45015" y="3017758"/>
            <a:ext cx="21717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45015" y="3356372"/>
            <a:ext cx="4225290" cy="30480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15" name="Text 13"/>
          <p:cNvSpPr/>
          <p:nvPr/>
        </p:nvSpPr>
        <p:spPr>
          <a:xfrm>
            <a:off x="9645015" y="3525917"/>
            <a:ext cx="2992279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Missing Value Handling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5015" y="4012406"/>
            <a:ext cx="4225290" cy="1042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Thoroughly checked for and addressed all missing values, ensuring a complete and coherent dataset.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0095" y="5434727"/>
            <a:ext cx="21717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60095" y="5773341"/>
            <a:ext cx="6446520" cy="30480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19" name="Text 17"/>
          <p:cNvSpPr/>
          <p:nvPr/>
        </p:nvSpPr>
        <p:spPr>
          <a:xfrm>
            <a:off x="760095" y="5942886"/>
            <a:ext cx="2850356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Outlier Visualization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0095" y="6429375"/>
            <a:ext cx="6446520" cy="1042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boxplots to visualize outliers in pollutant concentrations and AQI, retaining them as crucial indicators of real-world extreme pollution events.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3785" y="5434727"/>
            <a:ext cx="217170" cy="2714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423785" y="5773341"/>
            <a:ext cx="6446520" cy="30480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23" name="Text 21"/>
          <p:cNvSpPr/>
          <p:nvPr/>
        </p:nvSpPr>
        <p:spPr>
          <a:xfrm>
            <a:off x="7423785" y="5942886"/>
            <a:ext cx="3012162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Final Dataset Readiness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3785" y="6429375"/>
            <a:ext cx="6446520" cy="6948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dataset is now clean, consistent, and fully prepared for exploratory data analysis (EDA).</a:t>
            </a:r>
            <a:endParaRPr lang="en-US" sz="17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5886" y="1115973"/>
            <a:ext cx="2435781" cy="304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123305" y="1494790"/>
            <a:ext cx="8321675" cy="608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Understanding the What is AQI..?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135886" y="2381964"/>
            <a:ext cx="7845028" cy="1187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135886" y="3778448"/>
            <a:ext cx="7845028" cy="1426369"/>
          </a:xfrm>
          <a:prstGeom prst="roundRect">
            <a:avLst>
              <a:gd name="adj" fmla="val 769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13026" y="3778448"/>
            <a:ext cx="91440" cy="1426369"/>
          </a:xfrm>
          <a:prstGeom prst="roundRect">
            <a:avLst>
              <a:gd name="adj" fmla="val 30444"/>
            </a:avLst>
          </a:prstGeom>
          <a:solidFill>
            <a:srgbClr val="E04F00"/>
          </a:solidFill>
        </p:spPr>
      </p:sp>
      <p:sp>
        <p:nvSpPr>
          <p:cNvPr id="8" name="Text 5"/>
          <p:cNvSpPr/>
          <p:nvPr/>
        </p:nvSpPr>
        <p:spPr>
          <a:xfrm>
            <a:off x="6412825" y="3986808"/>
            <a:ext cx="2435781" cy="304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Health Impacts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12865" y="4402455"/>
            <a:ext cx="7319645" cy="913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Poor air quality is directly linked to severe health consequences, including respiratory diseases, </a:t>
            </a:r>
            <a:r>
              <a:rPr lang="en-US" sz="1450" dirty="0">
                <a:gradFill>
                  <a:gsLst>
                    <a:gs pos="50000">
                      <a:schemeClr val="tx1"/>
                    </a:gs>
                    <a:gs pos="50000">
                      <a:schemeClr val="tx1"/>
                    </a:gs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DM Sans" pitchFamily="34" charset="0"/>
                <a:ea typeface="DM Sans" pitchFamily="34" charset="-122"/>
                <a:cs typeface="DM Sans" pitchFamily="34" charset="-120"/>
              </a:rPr>
              <a:t>cardiovascular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problems, and a notable reduction in life expectancy.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35886" y="5390317"/>
            <a:ext cx="7845028" cy="1723311"/>
          </a:xfrm>
          <a:prstGeom prst="roundRect">
            <a:avLst>
              <a:gd name="adj" fmla="val 636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13026" y="5390317"/>
            <a:ext cx="91440" cy="1723311"/>
          </a:xfrm>
          <a:prstGeom prst="roundRect">
            <a:avLst>
              <a:gd name="adj" fmla="val 30444"/>
            </a:avLst>
          </a:prstGeom>
          <a:solidFill>
            <a:srgbClr val="E04F00"/>
          </a:solidFill>
        </p:spPr>
      </p:sp>
      <p:sp>
        <p:nvSpPr>
          <p:cNvPr id="12" name="Text 9"/>
          <p:cNvSpPr/>
          <p:nvPr/>
        </p:nvSpPr>
        <p:spPr>
          <a:xfrm>
            <a:off x="6412825" y="5598676"/>
            <a:ext cx="2435781" cy="304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Monitoring is Key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12825" y="6014442"/>
            <a:ext cx="7359729" cy="8908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monitoring and comprehensive understanding of air pollution patterns are essential for robust public health protection and informed environmental management strategies.</a:t>
            </a:r>
            <a:endParaRPr lang="en-US" sz="1450" dirty="0"/>
          </a:p>
        </p:txBody>
      </p:sp>
      <p:sp>
        <p:nvSpPr>
          <p:cNvPr id="16" name="Text Box 15"/>
          <p:cNvSpPr txBox="1"/>
          <p:nvPr/>
        </p:nvSpPr>
        <p:spPr>
          <a:xfrm>
            <a:off x="6075045" y="2104390"/>
            <a:ext cx="7905750" cy="1441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  <a:sym typeface="+mn-ea"/>
            </a:endParaRPr>
          </a:p>
          <a:p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AQI stand for  AIR QUALITY INDEX .This is a single number that are reperesent overall air pollution by combining multiple the polluant concentration . Higher AQI means worse  air quality and higher health risk .</a:t>
            </a:r>
            <a:endParaRPr lang="en-US" altLang="en-GB" dirty="0"/>
          </a:p>
          <a:p>
            <a:endParaRPr lang="en-US" dirty="0"/>
          </a:p>
          <a:p>
            <a:endParaRPr lang="en-GB" alt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" y="375920"/>
            <a:ext cx="7325995" cy="74390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454900" y="250825"/>
            <a:ext cx="688276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>
                <a:solidFill>
                  <a:schemeClr val="accent2">
                    <a:lumMod val="75000"/>
                  </a:schemeClr>
                </a:solidFill>
              </a:rPr>
              <a:t>AQI Distribution – Target Variable Behavior</a:t>
            </a:r>
            <a:endParaRPr lang="en-US" altLang="zh-CN" sz="2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039100" y="1318260"/>
            <a:ext cx="5080000" cy="3706495"/>
          </a:xfrm>
          <a:prstGeom prst="rect">
            <a:avLst/>
          </a:prstGeom>
        </p:spPr>
        <p:txBody>
          <a:bodyPr>
            <a:spAutoFit/>
          </a:bodyPr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What This Plot Shows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Overall distribution of AQI across all time periods</a:t>
            </a:r>
            <a:endParaRPr lang="en-US" altLang="zh-CN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Focuses on general pollution severity, not city-level differences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Key Observations (Data Analyst View)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400" b="1"/>
              <a:t>AQI values show a right-skewed distribution</a:t>
            </a:r>
            <a:endParaRPr lang="en-US" altLang="zh-CN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/>
              <a:t>Moderate pollution levels occur frequently</a:t>
            </a:r>
            <a:endParaRPr lang="en-US" altLang="zh-CN" sz="14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/>
              <a:t>High and extreme AQI values appear regularly</a:t>
            </a:r>
            <a:endParaRPr lang="en-US" altLang="zh-CN" sz="14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/>
              <a:t>Distribution is non-normal and multi-modal</a:t>
            </a:r>
            <a:endParaRPr lang="en-US" altLang="zh-CN" sz="1400" b="1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" y="0"/>
            <a:ext cx="7219950" cy="79832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912735" y="339725"/>
            <a:ext cx="6463030" cy="9531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AQI Distribution Across Cities (Spatial Analysis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242300" y="1701800"/>
            <a:ext cx="5080000" cy="458406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What This Plot Shows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b="1">
                <a:sym typeface="+mn-ea"/>
              </a:rPr>
              <a:t>Comparison of AQI distribution across major cities</a:t>
            </a:r>
            <a:endParaRPr lang="en-US" altLang="zh-CN" sz="1600" b="1"/>
          </a:p>
          <a:p>
            <a:pPr>
              <a:buFont typeface="Arial" panose="020B0604020202020204"/>
              <a:buChar char="•"/>
            </a:pPr>
            <a:endParaRPr lang="en-US" altLang="zh-CN" sz="1600" b="1"/>
          </a:p>
          <a:p>
            <a:pPr>
              <a:buFont typeface="Arial" panose="020B0604020202020204"/>
              <a:buChar char="•"/>
            </a:pPr>
            <a:r>
              <a:rPr lang="en-US" altLang="zh-CN" sz="1600" b="1">
                <a:sym typeface="+mn-ea"/>
              </a:rPr>
              <a:t>Highlights city-wise differences in air quality</a:t>
            </a:r>
            <a:endParaRPr lang="en-US" altLang="zh-CN" sz="1600" b="1"/>
          </a:p>
          <a:p>
            <a:pPr>
              <a:spcAft>
                <a:spcPct val="60000"/>
              </a:spcAft>
            </a:pPr>
            <a:endParaRPr lang="en-US" altLang="zh-CN" sz="2300" b="1">
              <a:solidFill>
                <a:schemeClr val="accent2">
                  <a:lumMod val="75000"/>
                </a:schemeClr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Key Observations:-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zh-CN" sz="1600" b="1"/>
              <a:t>Some cities show higher median AQI, indicating consistently worse air quality</a:t>
            </a:r>
            <a:endParaRPr lang="en-US" altLang="zh-CN" sz="1600" b="1"/>
          </a:p>
          <a:p>
            <a:pPr>
              <a:buFont typeface="Arial" panose="020B0604020202020204"/>
              <a:buChar char="•"/>
            </a:pPr>
            <a:r>
              <a:rPr lang="en-US" altLang="zh-CN" sz="1600" b="1"/>
              <a:t>Several cities exhibit wide AQI variation, reflecting unstable pollution levels</a:t>
            </a:r>
            <a:endParaRPr lang="en-US" altLang="zh-CN" sz="1600" b="1"/>
          </a:p>
          <a:p>
            <a:pPr>
              <a:buFont typeface="Arial" panose="020B0604020202020204"/>
              <a:buChar char="•"/>
            </a:pPr>
            <a:endParaRPr lang="en-US" altLang="zh-CN" sz="1600" b="1"/>
          </a:p>
          <a:p>
            <a:pPr>
              <a:buFont typeface="Arial" panose="020B0604020202020204"/>
              <a:buChar char="•"/>
            </a:pPr>
            <a:r>
              <a:rPr lang="en-US" altLang="zh-CN" sz="1600" b="1"/>
              <a:t>Extreme AQI values are present across multiple cities</a:t>
            </a:r>
            <a:endParaRPr lang="en-US" altLang="zh-CN" sz="1600" b="1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76875" cy="39916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45" y="3991610"/>
            <a:ext cx="5650230" cy="42373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117590" y="370205"/>
            <a:ext cx="8068945" cy="9531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Particulate Matter Impact on AQI (AQI vs PM2.5 &amp; AQI vs PM10)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436360" y="1490345"/>
            <a:ext cx="7533005" cy="551053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What This Slide Shows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Relationship between AQI and particulate matter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Comparison of fine and coarse particles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zh-CN" altLang="en-US" sz="22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Key Observations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Strong positive relationship between AQI and PM2.5</a:t>
            </a:r>
            <a:endParaRPr lang="en-US" altLang="zh-CN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AQI increases sharply as PM2.5 levels rise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PM10 also shows a strong upward trend with AQI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en-US" altLang="zh-CN" sz="22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Insights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Particulate matter is the primary driver of AQI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High AQI events are closely linked to increased dust and fine particles</a:t>
            </a:r>
            <a:endParaRPr lang="en-US" altLang="zh-CN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en-US" altLang="zh-CN" sz="160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" y="3848100"/>
            <a:ext cx="5457825" cy="438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5467350" cy="38296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541645" y="254635"/>
            <a:ext cx="8964930" cy="9531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Gaseous Pollutants: Moderate Impact (AQI vs NO₂ &amp; AQI vs SO₂)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334125" y="2123440"/>
            <a:ext cx="7482205" cy="411353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What This Slide Shows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Relationship between AQI and nitrogen &amp; sulfur gases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Key Observations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>
                <a:sym typeface="+mn-ea"/>
              </a:rPr>
              <a:t>NO₂ shows a moderate positive relationship with AQI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>
                <a:sym typeface="+mn-ea"/>
              </a:rPr>
              <a:t>SO₂ contributes to AQI but with less intensity than particulate matter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zh-CN" altLang="en-US" sz="22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Insights:-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Gaseous pollutants influence AQI, but are secondary contributors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Often linked to traffic and industrial emissions</a:t>
            </a:r>
            <a:endParaRPr lang="en-US" altLang="zh-CN" sz="1600" b="1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29250" cy="37858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5870"/>
            <a:ext cx="5391150" cy="44958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746115" y="267335"/>
            <a:ext cx="8884285" cy="9531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Low &amp; Seasonal Influence Pollutants (AQI vs CO &amp; AQI vs O₃)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746115" y="1220470"/>
            <a:ext cx="7331075" cy="399415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What This Slide Shows:-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Relationship between AQI and CO, O₃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Key Observations:-</a:t>
            </a:r>
            <a:endParaRPr lang="en-US" altLang="zh-CN" sz="22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CO shows a weak relationship with AQI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O₃ exhibits seasonal influence rather than consistent impact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Insights:-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CO and O₃ are not dominant AQI drivers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Their impact varies based on season and weather</a:t>
            </a:r>
            <a:endParaRPr lang="en-US" altLang="zh-CN" sz="1600" b="1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12669" y="1071682"/>
            <a:ext cx="2582704" cy="293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974205" y="107950"/>
            <a:ext cx="7489825" cy="11741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Pollutant-Based Analysis and Their Impact on AQI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25005" y="1503045"/>
            <a:ext cx="7362825" cy="572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analysis focused on individual air pollutants to discern their influence on the overall Air Quality Index (AQI), revealing strong correlations with particulate matter.</a:t>
            </a:r>
            <a:endParaRPr lang="en-US" sz="1600" b="1" dirty="0"/>
          </a:p>
        </p:txBody>
      </p:sp>
      <p:sp>
        <p:nvSpPr>
          <p:cNvPr id="6" name="Shape 3"/>
          <p:cNvSpPr/>
          <p:nvPr/>
        </p:nvSpPr>
        <p:spPr>
          <a:xfrm>
            <a:off x="6994525" y="2482850"/>
            <a:ext cx="3762375" cy="2907030"/>
          </a:xfrm>
          <a:prstGeom prst="roundRect">
            <a:avLst>
              <a:gd name="adj" fmla="val 137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  <a:sym typeface="+mn-ea"/>
              </a:rPr>
              <a:t>PM2.5 &amp; PM10 Dominance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  <a:sym typeface="+mn-ea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Scatter plots confirm that fine and coarse particulate matter (PM2.5 and PM10) are the most significant contributors to elevated AQI levels.</a:t>
            </a:r>
            <a:endParaRPr lang="en-GB" altLang="en-US"/>
          </a:p>
        </p:txBody>
      </p:sp>
      <p:sp>
        <p:nvSpPr>
          <p:cNvPr id="7" name="Text 4"/>
          <p:cNvSpPr/>
          <p:nvPr/>
        </p:nvSpPr>
        <p:spPr>
          <a:xfrm>
            <a:off x="6314361" y="3854768"/>
            <a:ext cx="2818448" cy="293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14361" y="4255651"/>
            <a:ext cx="3452932" cy="1144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44860" y="2482850"/>
            <a:ext cx="3180715" cy="2914015"/>
          </a:xfrm>
          <a:prstGeom prst="roundRect">
            <a:avLst>
              <a:gd name="adj" fmla="val 137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  <a:sym typeface="+mn-ea"/>
              </a:rPr>
              <a:t>Gaseous Pollutant Influence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16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  <a:sym typeface="+mn-ea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NO2, SO2, CO, and O3 also exhibit varying degrees of correlation with AQI, contributing to overall air quality degradation.</a:t>
            </a:r>
            <a:endParaRPr lang="en-GB" altLang="en-US" sz="1600"/>
          </a:p>
        </p:txBody>
      </p:sp>
      <p:sp>
        <p:nvSpPr>
          <p:cNvPr id="10" name="Text 7"/>
          <p:cNvSpPr/>
          <p:nvPr/>
        </p:nvSpPr>
        <p:spPr>
          <a:xfrm>
            <a:off x="10260608" y="7624763"/>
            <a:ext cx="2940129" cy="293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54008" y="6276221"/>
            <a:ext cx="3452932" cy="1144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NO2, SO2, CO, and O3 also exhibit varying degrees of correlation with AQI, contributing to overall air quality degradation.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004685" y="5781040"/>
            <a:ext cx="7383145" cy="1451610"/>
          </a:xfrm>
          <a:prstGeom prst="roundRect">
            <a:avLst>
              <a:gd name="adj" fmla="val 195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635" y="5982970"/>
            <a:ext cx="1042670" cy="293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Correlation Heatmap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53960" y="6383655"/>
            <a:ext cx="6248400" cy="572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heatmap quantifies these relationships, identifying the most influential pollutants for targeted mitigation strategies.</a:t>
            </a:r>
            <a:endParaRPr lang="en-US" sz="14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282575"/>
            <a:ext cx="5932805" cy="703770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127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754" y="2822734"/>
            <a:ext cx="2428399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Project Focus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1463754" y="3200281"/>
            <a:ext cx="11702772" cy="12139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Deconstructing Air Pollution: A Data-Driven Approach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463754" y="4691777"/>
            <a:ext cx="11702772" cy="5919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aims to unravel the complex factors influencing air quality by analyzing historical data, providing a foundation for future prediction models and targeted interventions.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1463754" y="5491877"/>
            <a:ext cx="3777496" cy="555069"/>
          </a:xfrm>
          <a:prstGeom prst="roundRect">
            <a:avLst>
              <a:gd name="adj" fmla="val 480007"/>
            </a:avLst>
          </a:prstGeom>
          <a:solidFill>
            <a:srgbClr val="F2EEEE"/>
          </a:solidFill>
        </p:spPr>
      </p:sp>
      <p:sp>
        <p:nvSpPr>
          <p:cNvPr id="7" name="Text 4"/>
          <p:cNvSpPr/>
          <p:nvPr/>
        </p:nvSpPr>
        <p:spPr>
          <a:xfrm>
            <a:off x="1648778" y="6231969"/>
            <a:ext cx="2428399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Pollutant Factors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8778" y="6646545"/>
            <a:ext cx="3407450" cy="5919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individual pollutant contributions to overall AQI levels.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26273" y="5491877"/>
            <a:ext cx="3777615" cy="555069"/>
          </a:xfrm>
          <a:prstGeom prst="roundRect">
            <a:avLst>
              <a:gd name="adj" fmla="val 480007"/>
            </a:avLst>
          </a:prstGeom>
          <a:solidFill>
            <a:srgbClr val="F2EEEE"/>
          </a:solidFill>
        </p:spPr>
      </p:sp>
      <p:sp>
        <p:nvSpPr>
          <p:cNvPr id="10" name="Text 7"/>
          <p:cNvSpPr/>
          <p:nvPr/>
        </p:nvSpPr>
        <p:spPr>
          <a:xfrm>
            <a:off x="5611297" y="6231969"/>
            <a:ext cx="2428399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Spatial Variations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611297" y="6646545"/>
            <a:ext cx="3407569" cy="5919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Examine how air quality differs across various urban centers and regions.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388912" y="5491877"/>
            <a:ext cx="3777496" cy="555069"/>
          </a:xfrm>
          <a:prstGeom prst="roundRect">
            <a:avLst>
              <a:gd name="adj" fmla="val 480007"/>
            </a:avLst>
          </a:prstGeom>
          <a:solidFill>
            <a:srgbClr val="F2EEEE"/>
          </a:solidFill>
        </p:spPr>
      </p:sp>
      <p:sp>
        <p:nvSpPr>
          <p:cNvPr id="13" name="Text 10"/>
          <p:cNvSpPr/>
          <p:nvPr/>
        </p:nvSpPr>
        <p:spPr>
          <a:xfrm>
            <a:off x="9573935" y="6231969"/>
            <a:ext cx="2428399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Seasonal Patterns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573935" y="6646545"/>
            <a:ext cx="3407450" cy="887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 temporal and seasonal trends in pollution severity throughout the year.</a:t>
            </a:r>
            <a:endParaRPr lang="en-US" sz="145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209550"/>
            <a:ext cx="7078345" cy="7759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975" y="1619885"/>
            <a:ext cx="6570980" cy="5019675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7655560" y="410845"/>
            <a:ext cx="6525895" cy="9531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City-wise and Seasonal AQI Trends (Spatio-Temporal Analysis)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37235" y="356235"/>
            <a:ext cx="5986780" cy="928052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City–Year Heatmap :-                                                                                        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Some cities show consistently high AQI across multiple years</a:t>
            </a:r>
            <a:endParaRPr lang="en-US" altLang="zh-CN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Certain cities experience persistent pollution, not isolated events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AQI levels vary significantly between cities over time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en-US" altLang="zh-CN" sz="22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Monthly AQI Trend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AQI levels are higher during winter months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AQI decreases during summer and monsoon periods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Seasonal pattern is clearly visible and recurring</a:t>
            </a:r>
            <a:endParaRPr lang="en-US" altLang="zh-CN" sz="16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en-US" altLang="zh-CN" sz="2300" b="1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300" b="1">
                <a:solidFill>
                  <a:schemeClr val="accent2">
                    <a:lumMod val="75000"/>
                  </a:schemeClr>
                </a:solidFill>
              </a:rPr>
              <a:t>Insights:-</a:t>
            </a:r>
            <a:endParaRPr lang="en-US" altLang="zh-CN" sz="23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Air pollution is influenced by both location and time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High-AQI cities require long-term, city-specific interventions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Seasonal trends explain repeated pollution spikes each year</a:t>
            </a:r>
            <a:endParaRPr lang="en-US" altLang="zh-CN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en-US" altLang="zh-CN" sz="1600"/>
          </a:p>
        </p:txBody>
      </p:sp>
      <p:sp>
        <p:nvSpPr>
          <p:cNvPr id="3" name="Text Box 2"/>
          <p:cNvSpPr txBox="1"/>
          <p:nvPr/>
        </p:nvSpPr>
        <p:spPr>
          <a:xfrm>
            <a:off x="7298690" y="356235"/>
            <a:ext cx="7315200" cy="445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3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Analyst Recommendations :-</a:t>
            </a:r>
            <a:endParaRPr lang="en-US" altLang="zh-CN" sz="2300" b="1">
              <a:solidFill>
                <a:schemeClr val="accent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315200" y="922655"/>
            <a:ext cx="7315200" cy="1256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ym typeface="+mn-ea"/>
              </a:rPr>
              <a:t>Prioritize pollution control in consistently high-AQI cities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>
                <a:sym typeface="+mn-ea"/>
              </a:rPr>
              <a:t>Implement season-specific measures, especially before winter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>
                <a:sym typeface="+mn-ea"/>
              </a:rPr>
              <a:t>Use city–year trends to track effectiveness of policies</a:t>
            </a:r>
            <a:endParaRPr lang="en-US" altLang="zh-CN" sz="1600" b="1">
              <a:sym typeface="+mn-ea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315" y="1557020"/>
            <a:ext cx="6257925" cy="58032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61315" y="431800"/>
            <a:ext cx="6216015" cy="11226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AQI Categories and Pollution Severity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024370" y="160020"/>
            <a:ext cx="7316470" cy="798639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What This Plot Shows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Average AQI values across different AQI categories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Relationship between AQI categories and pollution severity</a:t>
            </a:r>
            <a:endParaRPr lang="en-US" altLang="zh-CN" sz="1600" b="1"/>
          </a:p>
          <a:p>
            <a:pPr indent="0">
              <a:buFont typeface="Arial" panose="020B0604020202020204"/>
              <a:buNone/>
            </a:pPr>
            <a:r>
              <a:rPr lang="zh-CN" altLang="en-US" sz="2300" b="1"/>
              <a:t> </a:t>
            </a:r>
            <a:endParaRPr lang="zh-CN" altLang="en-US" sz="23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Key Observations (Data Analyst View)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AQI categories follow a clear increasing severity pattern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“Good” and “Satisfactory” categories have low average AQI values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endParaRPr lang="en-US" altLang="zh-CN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/>
              <a:t>“Moderate” and “Poor” categories show significant pollution levels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“Very Poor” and “Severe” categories have extremely high AQI, indicating serious</a:t>
            </a:r>
            <a:r>
              <a:rPr lang="en-US" altLang="zh-CN" sz="1600"/>
              <a:t> </a:t>
            </a:r>
            <a:r>
              <a:rPr lang="en-US" altLang="zh-CN" sz="1600" b="1"/>
              <a:t>health risk</a:t>
            </a:r>
            <a:endParaRPr lang="en-US" altLang="zh-CN" sz="1600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en-US" altLang="zh-CN" sz="2300" b="1"/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Insights :-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 b="1"/>
              <a:t>AQI categories effectively translate numeric AQI into pollution severity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Higher AQI categories represent disproportionately higher health impact</a:t>
            </a: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endParaRPr lang="en-US" altLang="zh-CN" sz="1600" b="1"/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1600" b="1"/>
              <a:t>Majority of high AQI values fall into Poor, Very Poor, and Severe ranges</a:t>
            </a:r>
            <a:endParaRPr lang="en-US" altLang="zh-CN" sz="1600" b="1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278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31432" y="2596039"/>
            <a:ext cx="2306241" cy="279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Actionable Intelligence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1931432" y="2943344"/>
            <a:ext cx="5258872" cy="558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Key Insights &amp; Conclusion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1931432" y="3757136"/>
            <a:ext cx="10767536" cy="54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comprehensive exploratory data analysis has illuminated critical factors influencing the Air Quality Index, providing a robust foundation for proactive environmental management and public health initiatives.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931432" y="4493419"/>
            <a:ext cx="10767536" cy="2532936"/>
          </a:xfrm>
          <a:prstGeom prst="roundRect">
            <a:avLst>
              <a:gd name="adj" fmla="val 1008"/>
            </a:avLst>
          </a:prstGeom>
          <a:solidFill>
            <a:srgbClr val="F2EEEE"/>
          </a:solidFill>
        </p:spPr>
      </p:sp>
      <p:sp>
        <p:nvSpPr>
          <p:cNvPr id="7" name="Shape 4"/>
          <p:cNvSpPr/>
          <p:nvPr/>
        </p:nvSpPr>
        <p:spPr>
          <a:xfrm>
            <a:off x="1931432" y="4493419"/>
            <a:ext cx="5383768" cy="1266468"/>
          </a:xfrm>
          <a:prstGeom prst="roundRect">
            <a:avLst>
              <a:gd name="adj" fmla="val 2016"/>
            </a:avLst>
          </a:prstGeom>
          <a:solidFill>
            <a:srgbClr val="F2EEEE"/>
          </a:solidFill>
        </p:spPr>
      </p:sp>
      <p:sp>
        <p:nvSpPr>
          <p:cNvPr id="8" name="Text 5"/>
          <p:cNvSpPr/>
          <p:nvPr/>
        </p:nvSpPr>
        <p:spPr>
          <a:xfrm>
            <a:off x="2101572" y="4663559"/>
            <a:ext cx="2234327" cy="279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Pollutant Drivers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2101572" y="5044916"/>
            <a:ext cx="4788098" cy="54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PM2.5 and PM10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confirmed as the primary pollutants driving AQI fluctuations.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0" y="4493419"/>
            <a:ext cx="5383768" cy="1266468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11" name="Shape 8"/>
          <p:cNvSpPr/>
          <p:nvPr/>
        </p:nvSpPr>
        <p:spPr>
          <a:xfrm>
            <a:off x="7315200" y="4493419"/>
            <a:ext cx="22860" cy="1266468"/>
          </a:xfrm>
          <a:prstGeom prst="roundRect">
            <a:avLst>
              <a:gd name="adj" fmla="val 111706"/>
            </a:avLst>
          </a:prstGeom>
          <a:solidFill>
            <a:srgbClr val="D8D4D4"/>
          </a:solidFill>
        </p:spPr>
      </p:sp>
      <p:sp>
        <p:nvSpPr>
          <p:cNvPr id="12" name="Text 9"/>
          <p:cNvSpPr/>
          <p:nvPr/>
        </p:nvSpPr>
        <p:spPr>
          <a:xfrm>
            <a:off x="7740729" y="4663559"/>
            <a:ext cx="2234327" cy="279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Seasonal Peaks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740729" y="5044916"/>
            <a:ext cx="4788098" cy="54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Winter months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consistently exhibit the worst air quality, necessitating seasonal interventions.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02435" y="4913828"/>
            <a:ext cx="425529" cy="425529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8758" y="5020151"/>
            <a:ext cx="212765" cy="21276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931432" y="5759887"/>
            <a:ext cx="5383768" cy="1266468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17" name="Shape 13"/>
          <p:cNvSpPr/>
          <p:nvPr/>
        </p:nvSpPr>
        <p:spPr>
          <a:xfrm>
            <a:off x="1931432" y="5759887"/>
            <a:ext cx="5383768" cy="22860"/>
          </a:xfrm>
          <a:prstGeom prst="roundRect">
            <a:avLst>
              <a:gd name="adj" fmla="val 111706"/>
            </a:avLst>
          </a:prstGeom>
          <a:solidFill>
            <a:srgbClr val="D8D4D4"/>
          </a:solidFill>
        </p:spPr>
      </p:sp>
      <p:sp>
        <p:nvSpPr>
          <p:cNvPr id="18" name="Text 14"/>
          <p:cNvSpPr/>
          <p:nvPr/>
        </p:nvSpPr>
        <p:spPr>
          <a:xfrm>
            <a:off x="2101572" y="5930027"/>
            <a:ext cx="2234327" cy="279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Urban Hotspots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2101572" y="6311384"/>
            <a:ext cx="4788098" cy="54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Urban and industrial cities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bear the brunt of higher AQI levels, requiring localized strategies.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315200" y="5759887"/>
            <a:ext cx="5383768" cy="1266468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21" name="Shape 17"/>
          <p:cNvSpPr/>
          <p:nvPr/>
        </p:nvSpPr>
        <p:spPr>
          <a:xfrm>
            <a:off x="7315200" y="5759887"/>
            <a:ext cx="22860" cy="1266468"/>
          </a:xfrm>
          <a:prstGeom prst="roundRect">
            <a:avLst>
              <a:gd name="adj" fmla="val 111706"/>
            </a:avLst>
          </a:prstGeom>
          <a:solidFill>
            <a:srgbClr val="D8D4D4"/>
          </a:solidFill>
        </p:spPr>
      </p:sp>
      <p:sp>
        <p:nvSpPr>
          <p:cNvPr id="22" name="Shape 18"/>
          <p:cNvSpPr/>
          <p:nvPr/>
        </p:nvSpPr>
        <p:spPr>
          <a:xfrm>
            <a:off x="7315200" y="5759887"/>
            <a:ext cx="5383768" cy="22860"/>
          </a:xfrm>
          <a:prstGeom prst="roundRect">
            <a:avLst>
              <a:gd name="adj" fmla="val 111706"/>
            </a:avLst>
          </a:prstGeom>
          <a:solidFill>
            <a:srgbClr val="D8D4D4"/>
          </a:solidFill>
        </p:spPr>
      </p:sp>
      <p:sp>
        <p:nvSpPr>
          <p:cNvPr id="23" name="Text 19"/>
          <p:cNvSpPr/>
          <p:nvPr/>
        </p:nvSpPr>
        <p:spPr>
          <a:xfrm>
            <a:off x="7740729" y="5930027"/>
            <a:ext cx="2234327" cy="279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Dynamic Variability</a:t>
            </a:r>
            <a:endParaRPr lang="en-US" sz="1750" dirty="0"/>
          </a:p>
        </p:txBody>
      </p:sp>
      <p:sp>
        <p:nvSpPr>
          <p:cNvPr id="24" name="Text 20"/>
          <p:cNvSpPr/>
          <p:nvPr/>
        </p:nvSpPr>
        <p:spPr>
          <a:xfrm>
            <a:off x="7740729" y="6311384"/>
            <a:ext cx="4788098" cy="54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3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non-normal and variable nature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AQI indicates frequent extreme pollution events.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102435" y="6180296"/>
            <a:ext cx="425529" cy="425529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8758" y="6286619"/>
            <a:ext cx="212765" cy="21276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31432" y="7217807"/>
            <a:ext cx="10767536" cy="54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findings provide invaluable insights into air pollution behavior, paving the way for advanced air quality monitoring and predictive modeling.</a:t>
            </a:r>
            <a:endParaRPr lang="en-US" sz="13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7450455"/>
            <a:ext cx="3048000" cy="7791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8439</Words>
  <Application>WPS Presentation</Application>
  <PresentationFormat>On-screen Show (16:9)</PresentationFormat>
  <Paragraphs>285</Paragraphs>
  <Slides>17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SimSun</vt:lpstr>
      <vt:lpstr>Wingdings</vt:lpstr>
      <vt:lpstr>PT Serif</vt:lpstr>
      <vt:lpstr>PT Serif</vt:lpstr>
      <vt:lpstr>PT Serif</vt:lpstr>
      <vt:lpstr>DM Sans</vt:lpstr>
      <vt:lpstr>DM Sans</vt:lpstr>
      <vt:lpstr>DM Sans</vt:lpstr>
      <vt:lpstr>PT Serif Light</vt:lpstr>
      <vt:lpstr>Segoe Print</vt:lpstr>
      <vt:lpstr>PT Serif Light</vt:lpstr>
      <vt:lpstr>PT Serif Light</vt:lpstr>
      <vt:lpstr>Calibri</vt:lpstr>
      <vt:lpstr>Microsoft YaHei</vt:lpstr>
      <vt:lpstr>Arial Unicode MS</vt:lpstr>
      <vt:lpstr>MingLiU-ExtB</vt:lpstr>
      <vt:lpstr>Arial</vt:lpstr>
      <vt:lpstr>等线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Innomatic Parween</cp:lastModifiedBy>
  <cp:revision>2</cp:revision>
  <dcterms:created xsi:type="dcterms:W3CDTF">2026-01-09T05:16:00Z</dcterms:created>
  <dcterms:modified xsi:type="dcterms:W3CDTF">2026-01-09T14:10:46Z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6A7D459CA7F14C05B27926F18CBA3D6E_12</vt:lpwstr>
  </property>
  <property fmtid="{D5CDD505-2E9C-101B-9397-08002B2CF9AE}" pid="3" name="KSOProductBuildVer">
    <vt:lpwstr>2057-12.2.0.23197</vt:lpwstr>
  </property>
</Properties>
</file>